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C Diary Girl" panose="020B0604020202020204" charset="-95"/>
      <p:regular r:id="rId14"/>
    </p:embeddedFont>
    <p:embeddedFont>
      <p:font typeface="Nunito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08088-E6BC-49F9-AAA4-D7D21EF338C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78C8-1AB4-4835-85ED-BAC712790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A78C8-1AB4-4835-85ED-BAC712790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1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-465442">
            <a:off x="15105791" y="2458225"/>
            <a:ext cx="2013817" cy="2206373"/>
          </a:xfrm>
          <a:custGeom>
            <a:avLst/>
            <a:gdLst/>
            <a:ahLst/>
            <a:cxnLst/>
            <a:rect l="l" t="t" r="r" b="b"/>
            <a:pathLst>
              <a:path w="2013817" h="2206373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34072" y="-1475968"/>
            <a:ext cx="3808435" cy="4114800"/>
          </a:xfrm>
          <a:custGeom>
            <a:avLst/>
            <a:gdLst/>
            <a:ahLst/>
            <a:cxnLst/>
            <a:rect l="l" t="t" r="r" b="b"/>
            <a:pathLst>
              <a:path w="3808435" h="4114800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825094" y="8627655"/>
            <a:ext cx="3434206" cy="630645"/>
          </a:xfrm>
          <a:custGeom>
            <a:avLst/>
            <a:gdLst/>
            <a:ahLst/>
            <a:cxnLst/>
            <a:rect l="l" t="t" r="r" b="b"/>
            <a:pathLst>
              <a:path w="3434206" h="630645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37417">
            <a:off x="1699513" y="6606455"/>
            <a:ext cx="3549699" cy="2562238"/>
          </a:xfrm>
          <a:custGeom>
            <a:avLst/>
            <a:gdLst/>
            <a:ahLst/>
            <a:cxnLst/>
            <a:rect l="l" t="t" r="r" b="b"/>
            <a:pathLst>
              <a:path w="3549699" h="2562238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714689" y="4188778"/>
            <a:ext cx="12858622" cy="15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Presentation Section 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31736" y="5712776"/>
            <a:ext cx="9624529" cy="855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337271"/>
                </a:solidFill>
                <a:latin typeface="AC Diary Girl" panose="020B0604020202020204" charset="-95"/>
                <a:ea typeface="AC Diary Girl" panose="020B0604020202020204" charset="-95"/>
                <a:cs typeface="Nunito"/>
                <a:sym typeface="Nunito"/>
              </a:rPr>
              <a:t>Presented by Ei Phyu Moe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099932" y="-1172339"/>
            <a:ext cx="6257264" cy="3629213"/>
          </a:xfrm>
          <a:custGeom>
            <a:avLst/>
            <a:gdLst/>
            <a:ahLst/>
            <a:cxnLst/>
            <a:rect l="l" t="t" r="r" b="b"/>
            <a:pathLst>
              <a:path w="6257264" h="3629213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533991" y="6870677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796206" y="2199700"/>
            <a:ext cx="9453194" cy="1474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72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What is Laravel?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4976" y="4115375"/>
            <a:ext cx="14338047" cy="214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  <a:t>	Laravel is a PHP Framework.</a:t>
            </a:r>
            <a:b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</a:br>
            <a: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  <a:t> 	It helps developers build websites and web applications easily.</a:t>
            </a:r>
            <a:b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</a:br>
            <a: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  <a:t> 	Laravel provides clean and organized code structure. </a:t>
            </a:r>
            <a:b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</a:br>
            <a: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  <a:t> 	Popular for modern web development.</a:t>
            </a:r>
            <a:endParaRPr lang="en-US" sz="3000" dirty="0">
              <a:solidFill>
                <a:srgbClr val="337271"/>
              </a:solidFill>
              <a:latin typeface="AC Diary Girl" panose="020B0604020202020204" charset="-95"/>
              <a:ea typeface="AC Diary Girl" panose="020B0604020202020204" charset="-95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99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230959" y="4743076"/>
            <a:ext cx="4634336" cy="1193812"/>
            <a:chOff x="0" y="0"/>
            <a:chExt cx="1220566" cy="3144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0566" cy="314420"/>
            </a:xfrm>
            <a:custGeom>
              <a:avLst/>
              <a:gdLst/>
              <a:ahLst/>
              <a:cxnLst/>
              <a:rect l="l" t="t" r="r" b="b"/>
              <a:pathLst>
                <a:path w="1220566" h="314420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91696" y="4743076"/>
            <a:ext cx="4634336" cy="1193812"/>
            <a:chOff x="0" y="0"/>
            <a:chExt cx="1220566" cy="314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0566" cy="314420"/>
            </a:xfrm>
            <a:custGeom>
              <a:avLst/>
              <a:gdLst/>
              <a:ahLst/>
              <a:cxnLst/>
              <a:rect l="l" t="t" r="r" b="b"/>
              <a:pathLst>
                <a:path w="1220566" h="314420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15690050" y="7739359"/>
            <a:ext cx="3551363" cy="1646945"/>
          </a:xfrm>
          <a:custGeom>
            <a:avLst/>
            <a:gdLst/>
            <a:ahLst/>
            <a:cxnLst/>
            <a:rect l="l" t="t" r="r" b="b"/>
            <a:pathLst>
              <a:path w="3551363" h="1646945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796206" y="2290466"/>
            <a:ext cx="8695587" cy="147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72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Why Use Laravel?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14599" y="4750079"/>
            <a:ext cx="6067057" cy="76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400" dirty="0">
                <a:highlight>
                  <a:srgbClr val="00FF00"/>
                </a:highlight>
                <a:latin typeface="AC Diary Girl" panose="020B0604020202020204" charset="-95"/>
                <a:ea typeface="AC Diary Girl" panose="020B0604020202020204" charset="-95"/>
              </a:rPr>
              <a:t>Built-in security features</a:t>
            </a:r>
            <a:endParaRPr lang="en-US" sz="2400" dirty="0">
              <a:solidFill>
                <a:srgbClr val="FFFFFF"/>
              </a:solidFill>
              <a:highlight>
                <a:srgbClr val="00FF00"/>
              </a:highlight>
              <a:latin typeface="AC Diary Girl" panose="020B0604020202020204" charset="-95"/>
              <a:ea typeface="AC Diary Girl" panose="020B0604020202020204" charset="-95"/>
              <a:cs typeface="Nunito"/>
              <a:sym typeface="Nuni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2659" y="4750080"/>
            <a:ext cx="4553373" cy="76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400" dirty="0">
                <a:highlight>
                  <a:srgbClr val="00FF00"/>
                </a:highlight>
                <a:latin typeface="AC Diary Girl" panose="020B0604020202020204" charset="-95"/>
                <a:ea typeface="AC Diary Girl" panose="020B0604020202020204" charset="-95"/>
              </a:rPr>
              <a:t>Supports MVC Architecture</a:t>
            </a:r>
            <a:endParaRPr lang="en-US" sz="2400" dirty="0">
              <a:solidFill>
                <a:srgbClr val="FFFFFF"/>
              </a:solidFill>
              <a:highlight>
                <a:srgbClr val="00FF00"/>
              </a:highlight>
              <a:latin typeface="AC Diary Girl" panose="020B0604020202020204" charset="-95"/>
              <a:ea typeface="AC Diary Girl" panose="020B0604020202020204" charset="-95"/>
              <a:cs typeface="Nunito"/>
              <a:sym typeface="Nuni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-746982" y="1028700"/>
            <a:ext cx="3551363" cy="1646945"/>
          </a:xfrm>
          <a:custGeom>
            <a:avLst/>
            <a:gdLst/>
            <a:ahLst/>
            <a:cxnLst/>
            <a:rect l="l" t="t" r="r" b="b"/>
            <a:pathLst>
              <a:path w="3551363" h="1646945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401" y="-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2617444" y="8578262"/>
            <a:ext cx="12892311" cy="1365838"/>
            <a:chOff x="0" y="0"/>
            <a:chExt cx="3395506" cy="3597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506" cy="359727"/>
            </a:xfrm>
            <a:custGeom>
              <a:avLst/>
              <a:gdLst/>
              <a:ahLst/>
              <a:cxnLst/>
              <a:rect l="l" t="t" r="r" b="b"/>
              <a:pathLst>
                <a:path w="3395506" h="359727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97845" y="5345015"/>
            <a:ext cx="12892311" cy="1365838"/>
            <a:chOff x="0" y="0"/>
            <a:chExt cx="3395506" cy="3597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5506" cy="359727"/>
            </a:xfrm>
            <a:custGeom>
              <a:avLst/>
              <a:gdLst/>
              <a:ahLst/>
              <a:cxnLst/>
              <a:rect l="l" t="t" r="r" b="b"/>
              <a:pathLst>
                <a:path w="3395506" h="359727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97845" y="7110903"/>
            <a:ext cx="12892311" cy="1365838"/>
            <a:chOff x="0" y="0"/>
            <a:chExt cx="3395506" cy="3597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95506" cy="359727"/>
            </a:xfrm>
            <a:custGeom>
              <a:avLst/>
              <a:gdLst/>
              <a:ahLst/>
              <a:cxnLst/>
              <a:rect l="l" t="t" r="r" b="b"/>
              <a:pathLst>
                <a:path w="3395506" h="359727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96207" y="1553084"/>
            <a:ext cx="8609800" cy="1452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66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Laravel Installation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83500" y="3709596"/>
            <a:ext cx="12721001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Step 1: Install PHP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83500" y="5475484"/>
            <a:ext cx="12721001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Step 2: Install Composer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83500" y="7241372"/>
            <a:ext cx="12721001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Step 3: Create Laravel Project</a:t>
            </a:r>
          </a:p>
        </p:txBody>
      </p:sp>
      <p:sp>
        <p:nvSpPr>
          <p:cNvPr id="16" name="Freeform 16"/>
          <p:cNvSpPr/>
          <p:nvPr/>
        </p:nvSpPr>
        <p:spPr>
          <a:xfrm>
            <a:off x="-334072" y="-1475968"/>
            <a:ext cx="3808435" cy="4114800"/>
          </a:xfrm>
          <a:custGeom>
            <a:avLst/>
            <a:gdLst/>
            <a:ahLst/>
            <a:cxnLst/>
            <a:rect l="l" t="t" r="r" b="b"/>
            <a:pathLst>
              <a:path w="3808435" h="4114800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406006" y="9057766"/>
            <a:ext cx="4196989" cy="770720"/>
          </a:xfrm>
          <a:custGeom>
            <a:avLst/>
            <a:gdLst/>
            <a:ahLst/>
            <a:cxnLst/>
            <a:rect l="l" t="t" r="r" b="b"/>
            <a:pathLst>
              <a:path w="4196989" h="770720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01D563E8-C9A2-8471-B096-A330E2C2DDFF}"/>
              </a:ext>
            </a:extLst>
          </p:cNvPr>
          <p:cNvSpPr/>
          <p:nvPr/>
        </p:nvSpPr>
        <p:spPr>
          <a:xfrm>
            <a:off x="2769844" y="3461404"/>
            <a:ext cx="12892311" cy="1365838"/>
          </a:xfrm>
          <a:custGeom>
            <a:avLst/>
            <a:gdLst/>
            <a:ahLst/>
            <a:cxnLst/>
            <a:rect l="l" t="t" r="r" b="b"/>
            <a:pathLst>
              <a:path w="3395506" h="359727">
                <a:moveTo>
                  <a:pt x="0" y="0"/>
                </a:moveTo>
                <a:lnTo>
                  <a:pt x="3395506" y="0"/>
                </a:lnTo>
                <a:lnTo>
                  <a:pt x="3395506" y="359727"/>
                </a:lnTo>
                <a:lnTo>
                  <a:pt x="0" y="359727"/>
                </a:lnTo>
                <a:close/>
              </a:path>
            </a:pathLst>
          </a:custGeom>
          <a:ln w="38100" cap="sq">
            <a:solidFill>
              <a:srgbClr val="33727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18EA9401-C9B8-E04C-7210-F06423B1E914}"/>
              </a:ext>
            </a:extLst>
          </p:cNvPr>
          <p:cNvSpPr txBox="1"/>
          <p:nvPr/>
        </p:nvSpPr>
        <p:spPr>
          <a:xfrm rot="10800000" flipV="1">
            <a:off x="2778245" y="8859887"/>
            <a:ext cx="11237668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Step 4: Run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157532" y="3724969"/>
            <a:ext cx="6698651" cy="4599931"/>
            <a:chOff x="0" y="0"/>
            <a:chExt cx="1764254" cy="12115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4254" cy="1211504"/>
            </a:xfrm>
            <a:custGeom>
              <a:avLst/>
              <a:gdLst/>
              <a:ahLst/>
              <a:cxnLst/>
              <a:rect l="l" t="t" r="r" b="b"/>
              <a:pathLst>
                <a:path w="1764254" h="121150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96206" y="1704925"/>
            <a:ext cx="8695587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36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Laravel Folder &amp; Understanding MVC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52476" y="5073248"/>
            <a:ext cx="5908762" cy="267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app/ → Application Logic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routes/ → Website Routes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resources/views/ → UI Files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database/ → Database Files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public/ → Public Assets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24346" y="3953457"/>
            <a:ext cx="2365022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31817" y="3724969"/>
            <a:ext cx="6698651" cy="4599931"/>
            <a:chOff x="0" y="0"/>
            <a:chExt cx="1764254" cy="12115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4254" cy="1211504"/>
            </a:xfrm>
            <a:custGeom>
              <a:avLst/>
              <a:gdLst/>
              <a:ahLst/>
              <a:cxnLst/>
              <a:rect l="l" t="t" r="r" b="b"/>
              <a:pathLst>
                <a:path w="1764254" h="121150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826762" y="5073248"/>
            <a:ext cx="5908762" cy="267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Model → Works with Database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View → User Interface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Controller → Handles Logic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98632" y="3953457"/>
            <a:ext cx="2365022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2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533991" y="6870677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-425143" y="-389831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512678" y="3614092"/>
            <a:ext cx="1393186" cy="1125001"/>
            <a:chOff x="0" y="0"/>
            <a:chExt cx="366930" cy="29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6930" cy="296297"/>
            </a:xfrm>
            <a:custGeom>
              <a:avLst/>
              <a:gdLst/>
              <a:ahLst/>
              <a:cxnLst/>
              <a:rect l="l" t="t" r="r" b="b"/>
              <a:pathLst>
                <a:path w="366930" h="296297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46771" y="4461140"/>
            <a:ext cx="4325000" cy="4118257"/>
            <a:chOff x="0" y="0"/>
            <a:chExt cx="1139095" cy="108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9095" cy="1084644"/>
            </a:xfrm>
            <a:custGeom>
              <a:avLst/>
              <a:gdLst/>
              <a:ahLst/>
              <a:cxnLst/>
              <a:rect l="l" t="t" r="r" b="b"/>
              <a:pathLst>
                <a:path w="1139095" h="1084644">
                  <a:moveTo>
                    <a:pt x="179004" y="0"/>
                  </a:moveTo>
                  <a:lnTo>
                    <a:pt x="960091" y="0"/>
                  </a:lnTo>
                  <a:cubicBezTo>
                    <a:pt x="1058952" y="0"/>
                    <a:pt x="1139095" y="80143"/>
                    <a:pt x="1139095" y="179004"/>
                  </a:cubicBezTo>
                  <a:lnTo>
                    <a:pt x="1139095" y="905640"/>
                  </a:lnTo>
                  <a:cubicBezTo>
                    <a:pt x="1139095" y="953115"/>
                    <a:pt x="1120235" y="998645"/>
                    <a:pt x="1086666" y="1032215"/>
                  </a:cubicBezTo>
                  <a:cubicBezTo>
                    <a:pt x="1053096" y="1065785"/>
                    <a:pt x="1007565" y="1084644"/>
                    <a:pt x="960091" y="1084644"/>
                  </a:cubicBezTo>
                  <a:lnTo>
                    <a:pt x="179004" y="1084644"/>
                  </a:lnTo>
                  <a:cubicBezTo>
                    <a:pt x="80143" y="1084644"/>
                    <a:pt x="0" y="1004501"/>
                    <a:pt x="0" y="905640"/>
                  </a:cubicBezTo>
                  <a:lnTo>
                    <a:pt x="0" y="179004"/>
                  </a:lnTo>
                  <a:cubicBezTo>
                    <a:pt x="0" y="131529"/>
                    <a:pt x="18859" y="85999"/>
                    <a:pt x="52429" y="52429"/>
                  </a:cubicBezTo>
                  <a:cubicBezTo>
                    <a:pt x="85999" y="18859"/>
                    <a:pt x="131529" y="0"/>
                    <a:pt x="179004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9095" cy="1122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6206" y="1450427"/>
            <a:ext cx="8695587" cy="162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25517" y="5405537"/>
            <a:ext cx="4046253" cy="1779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Routes handle user requests.</a:t>
            </a:r>
          </a:p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Routes are written in routes/</a:t>
            </a:r>
            <a:r>
              <a:rPr lang="en-US" sz="2499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web.php</a:t>
            </a:r>
            <a:endParaRPr lang="en-US" sz="2499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8447407" y="3469431"/>
            <a:ext cx="1852337" cy="1412033"/>
            <a:chOff x="0" y="-38100"/>
            <a:chExt cx="552587" cy="37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2587" cy="333794"/>
            </a:xfrm>
            <a:custGeom>
              <a:avLst/>
              <a:gdLst/>
              <a:ahLst/>
              <a:cxnLst/>
              <a:rect l="l" t="t" r="r" b="b"/>
              <a:pathLst>
                <a:path w="366930" h="296297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81500" y="4461140"/>
            <a:ext cx="4325000" cy="4118257"/>
            <a:chOff x="0" y="0"/>
            <a:chExt cx="1139095" cy="10846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9095" cy="1084644"/>
            </a:xfrm>
            <a:custGeom>
              <a:avLst/>
              <a:gdLst/>
              <a:ahLst/>
              <a:cxnLst/>
              <a:rect l="l" t="t" r="r" b="b"/>
              <a:pathLst>
                <a:path w="1139095" h="1084644">
                  <a:moveTo>
                    <a:pt x="179004" y="0"/>
                  </a:moveTo>
                  <a:lnTo>
                    <a:pt x="960091" y="0"/>
                  </a:lnTo>
                  <a:cubicBezTo>
                    <a:pt x="1058952" y="0"/>
                    <a:pt x="1139095" y="80143"/>
                    <a:pt x="1139095" y="179004"/>
                  </a:cubicBezTo>
                  <a:lnTo>
                    <a:pt x="1139095" y="905640"/>
                  </a:lnTo>
                  <a:cubicBezTo>
                    <a:pt x="1139095" y="953115"/>
                    <a:pt x="1120235" y="998645"/>
                    <a:pt x="1086666" y="1032215"/>
                  </a:cubicBezTo>
                  <a:cubicBezTo>
                    <a:pt x="1053096" y="1065785"/>
                    <a:pt x="1007565" y="1084644"/>
                    <a:pt x="960091" y="1084644"/>
                  </a:cubicBezTo>
                  <a:lnTo>
                    <a:pt x="179004" y="1084644"/>
                  </a:lnTo>
                  <a:cubicBezTo>
                    <a:pt x="80143" y="1084644"/>
                    <a:pt x="0" y="1004501"/>
                    <a:pt x="0" y="905640"/>
                  </a:cubicBezTo>
                  <a:lnTo>
                    <a:pt x="0" y="179004"/>
                  </a:lnTo>
                  <a:cubicBezTo>
                    <a:pt x="0" y="131529"/>
                    <a:pt x="18859" y="85999"/>
                    <a:pt x="52429" y="52429"/>
                  </a:cubicBezTo>
                  <a:cubicBezTo>
                    <a:pt x="85999" y="18859"/>
                    <a:pt x="131529" y="0"/>
                    <a:pt x="179004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39095" cy="1122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60247" y="5405537"/>
            <a:ext cx="3767506" cy="222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endParaRPr lang="en-US" sz="2499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Controllers manage application logic.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3382136" y="3469431"/>
            <a:ext cx="2324851" cy="1440977"/>
            <a:chOff x="0" y="-38100"/>
            <a:chExt cx="612307" cy="379517"/>
          </a:xfrm>
        </p:grpSpPr>
        <p:sp>
          <p:nvSpPr>
            <p:cNvPr id="19" name="Freeform 19"/>
            <p:cNvSpPr/>
            <p:nvPr/>
          </p:nvSpPr>
          <p:spPr>
            <a:xfrm>
              <a:off x="42236" y="7623"/>
              <a:ext cx="570071" cy="333794"/>
            </a:xfrm>
            <a:custGeom>
              <a:avLst/>
              <a:gdLst/>
              <a:ahLst/>
              <a:cxnLst/>
              <a:rect l="l" t="t" r="r" b="b"/>
              <a:pathLst>
                <a:path w="366930" h="296297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16229" y="4461140"/>
            <a:ext cx="4325000" cy="4118257"/>
            <a:chOff x="0" y="0"/>
            <a:chExt cx="1139095" cy="10846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9095" cy="1084644"/>
            </a:xfrm>
            <a:custGeom>
              <a:avLst/>
              <a:gdLst/>
              <a:ahLst/>
              <a:cxnLst/>
              <a:rect l="l" t="t" r="r" b="b"/>
              <a:pathLst>
                <a:path w="1139095" h="1084644">
                  <a:moveTo>
                    <a:pt x="179004" y="0"/>
                  </a:moveTo>
                  <a:lnTo>
                    <a:pt x="960091" y="0"/>
                  </a:lnTo>
                  <a:cubicBezTo>
                    <a:pt x="1058952" y="0"/>
                    <a:pt x="1139095" y="80143"/>
                    <a:pt x="1139095" y="179004"/>
                  </a:cubicBezTo>
                  <a:lnTo>
                    <a:pt x="1139095" y="905640"/>
                  </a:lnTo>
                  <a:cubicBezTo>
                    <a:pt x="1139095" y="953115"/>
                    <a:pt x="1120235" y="998645"/>
                    <a:pt x="1086666" y="1032215"/>
                  </a:cubicBezTo>
                  <a:cubicBezTo>
                    <a:pt x="1053096" y="1065785"/>
                    <a:pt x="1007565" y="1084644"/>
                    <a:pt x="960091" y="1084644"/>
                  </a:cubicBezTo>
                  <a:lnTo>
                    <a:pt x="179004" y="1084644"/>
                  </a:lnTo>
                  <a:cubicBezTo>
                    <a:pt x="80143" y="1084644"/>
                    <a:pt x="0" y="1004501"/>
                    <a:pt x="0" y="905640"/>
                  </a:cubicBezTo>
                  <a:lnTo>
                    <a:pt x="0" y="179004"/>
                  </a:lnTo>
                  <a:cubicBezTo>
                    <a:pt x="0" y="131529"/>
                    <a:pt x="18859" y="85999"/>
                    <a:pt x="52429" y="52429"/>
                  </a:cubicBezTo>
                  <a:cubicBezTo>
                    <a:pt x="85999" y="18859"/>
                    <a:pt x="131529" y="0"/>
                    <a:pt x="179004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39095" cy="1122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94976" y="5405537"/>
            <a:ext cx="3767506" cy="177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Frontend UI</a:t>
            </a:r>
          </a:p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Blade is Laravel's template engine.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663257" y="3654305"/>
            <a:ext cx="1092028" cy="77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800" dirty="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Route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97986" y="3654305"/>
            <a:ext cx="1852336" cy="76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400" dirty="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Controller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32714" y="3654305"/>
            <a:ext cx="2164485" cy="76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400" dirty="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View &amp; Blade</a:t>
            </a:r>
          </a:p>
        </p:txBody>
      </p:sp>
      <p:sp>
        <p:nvSpPr>
          <p:cNvPr id="28" name="Freeform 28"/>
          <p:cNvSpPr/>
          <p:nvPr/>
        </p:nvSpPr>
        <p:spPr>
          <a:xfrm>
            <a:off x="-334072" y="-1475968"/>
            <a:ext cx="3808435" cy="4114800"/>
          </a:xfrm>
          <a:custGeom>
            <a:avLst/>
            <a:gdLst/>
            <a:ahLst/>
            <a:cxnLst/>
            <a:rect l="l" t="t" r="r" b="b"/>
            <a:pathLst>
              <a:path w="3808435" h="4114800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57800" y="1630129"/>
            <a:ext cx="7619999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36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Database Migration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399" y="4612367"/>
            <a:ext cx="7772401" cy="2135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Migration manages database tables.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Run Migration:</a:t>
            </a:r>
          </a:p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migrate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2099932" y="-1172339"/>
            <a:ext cx="6257264" cy="3629213"/>
          </a:xfrm>
          <a:custGeom>
            <a:avLst/>
            <a:gdLst/>
            <a:ahLst/>
            <a:cxnLst/>
            <a:rect l="l" t="t" r="r" b="b"/>
            <a:pathLst>
              <a:path w="6257264" h="3629213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533991" y="6870677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71407E-1672-572C-877B-CB579BA78D6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5A20FAF-8AEA-CA4E-923E-6B44D3E1BB17}"/>
              </a:ext>
            </a:extLst>
          </p:cNvPr>
          <p:cNvSpPr txBox="1"/>
          <p:nvPr/>
        </p:nvSpPr>
        <p:spPr>
          <a:xfrm>
            <a:off x="5257800" y="1630129"/>
            <a:ext cx="7619999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36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Artisan Commands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1B3138-C51E-E4C7-86A3-FDC4B69444D1}"/>
              </a:ext>
            </a:extLst>
          </p:cNvPr>
          <p:cNvSpPr txBox="1"/>
          <p:nvPr/>
        </p:nvSpPr>
        <p:spPr>
          <a:xfrm>
            <a:off x="5791200" y="4612367"/>
            <a:ext cx="8763000" cy="4289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Useful Commands:</a:t>
            </a: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serve</a:t>
            </a: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migrate</a:t>
            </a: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</a:t>
            </a: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make:model</a:t>
            </a:r>
            <a:endParaRPr lang="en-US" sz="3000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</a:t>
            </a: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optimize:clear</a:t>
            </a:r>
            <a:endParaRPr lang="en-US" sz="3000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php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artisan </a:t>
            </a: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make:controller</a:t>
            </a:r>
            <a:endParaRPr lang="en-US" sz="3000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ts val="4200"/>
              </a:lnSpc>
            </a:pPr>
            <a:r>
              <a:rPr lang="en-US" sz="3000" dirty="0" err="1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etc</a:t>
            </a:r>
            <a:r>
              <a:rPr lang="en-US" sz="3000" dirty="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…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3727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F38DFD3-C713-90C7-2588-B324D29E6179}"/>
              </a:ext>
            </a:extLst>
          </p:cNvPr>
          <p:cNvSpPr/>
          <p:nvPr/>
        </p:nvSpPr>
        <p:spPr>
          <a:xfrm>
            <a:off x="-2099932" y="-1172339"/>
            <a:ext cx="6257264" cy="3629213"/>
          </a:xfrm>
          <a:custGeom>
            <a:avLst/>
            <a:gdLst/>
            <a:ahLst/>
            <a:cxnLst/>
            <a:rect l="l" t="t" r="r" b="b"/>
            <a:pathLst>
              <a:path w="6257264" h="3629213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FF6D42D1-2F53-2A2E-C6B6-E7792B2353BC}"/>
              </a:ext>
            </a:extLst>
          </p:cNvPr>
          <p:cNvSpPr/>
          <p:nvPr/>
        </p:nvSpPr>
        <p:spPr>
          <a:xfrm>
            <a:off x="15533991" y="6870677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7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8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96206" y="2199700"/>
            <a:ext cx="8695587" cy="1386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4800" dirty="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Simple Laravel </a:t>
            </a:r>
            <a:r>
              <a:rPr lang="en-US" sz="4800" dirty="0" err="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FLow</a:t>
            </a:r>
            <a:endParaRPr lang="en-US" sz="4800" dirty="0">
              <a:solidFill>
                <a:srgbClr val="337271"/>
              </a:solidFill>
              <a:latin typeface="AC Diary Girl"/>
              <a:ea typeface="AC Diary Girl"/>
              <a:cs typeface="AC Diary Girl"/>
              <a:sym typeface="AC Diary Gir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74976" y="4115375"/>
            <a:ext cx="14338047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AC Diary Girl" panose="020B0604020202020204" charset="-95"/>
                <a:ea typeface="AC Diary Girl" panose="020B0604020202020204" charset="-95"/>
              </a:rPr>
              <a:t>User Request → Route → Controller → Model → View</a:t>
            </a:r>
            <a:br>
              <a:rPr lang="en-US" sz="3200" dirty="0">
                <a:latin typeface="AC Diary Girl" panose="020B0604020202020204" charset="-95"/>
                <a:ea typeface="AC Diary Girl" panose="020B0604020202020204" charset="-95"/>
              </a:rPr>
            </a:br>
            <a:endParaRPr lang="en-US" sz="3000" dirty="0">
              <a:solidFill>
                <a:srgbClr val="337271"/>
              </a:solidFill>
              <a:latin typeface="AC Diary Girl" panose="020B0604020202020204" charset="-95"/>
              <a:ea typeface="AC Diary Girl" panose="020B0604020202020204" charset="-95"/>
              <a:cs typeface="Nunito"/>
              <a:sym typeface="Nunito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5690050" y="7739359"/>
            <a:ext cx="3551363" cy="1646945"/>
          </a:xfrm>
          <a:custGeom>
            <a:avLst/>
            <a:gdLst/>
            <a:ahLst/>
            <a:cxnLst/>
            <a:rect l="l" t="t" r="r" b="b"/>
            <a:pathLst>
              <a:path w="3551363" h="1646945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46982" y="1028700"/>
            <a:ext cx="3551363" cy="1646945"/>
          </a:xfrm>
          <a:custGeom>
            <a:avLst/>
            <a:gdLst/>
            <a:ahLst/>
            <a:cxnLst/>
            <a:rect l="l" t="t" r="r" b="b"/>
            <a:pathLst>
              <a:path w="3551363" h="1646945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96206" y="4200526"/>
            <a:ext cx="8695587" cy="162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Q&amp;A Session</a:t>
            </a:r>
          </a:p>
        </p:txBody>
      </p:sp>
      <p:sp>
        <p:nvSpPr>
          <p:cNvPr id="4" name="Freeform 4"/>
          <p:cNvSpPr/>
          <p:nvPr/>
        </p:nvSpPr>
        <p:spPr>
          <a:xfrm rot="-465442">
            <a:off x="15105791" y="2458225"/>
            <a:ext cx="2013817" cy="2206373"/>
          </a:xfrm>
          <a:custGeom>
            <a:avLst/>
            <a:gdLst/>
            <a:ahLst/>
            <a:cxnLst/>
            <a:rect l="l" t="t" r="r" b="b"/>
            <a:pathLst>
              <a:path w="2013817" h="2206373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334072" y="-1475968"/>
            <a:ext cx="3808435" cy="4114800"/>
          </a:xfrm>
          <a:custGeom>
            <a:avLst/>
            <a:gdLst/>
            <a:ahLst/>
            <a:cxnLst/>
            <a:rect l="l" t="t" r="r" b="b"/>
            <a:pathLst>
              <a:path w="3808435" h="4114800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062311" y="8487580"/>
            <a:ext cx="4196989" cy="770720"/>
          </a:xfrm>
          <a:custGeom>
            <a:avLst/>
            <a:gdLst/>
            <a:ahLst/>
            <a:cxnLst/>
            <a:rect l="l" t="t" r="r" b="b"/>
            <a:pathLst>
              <a:path w="4196989" h="770720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37417">
            <a:off x="1699513" y="6606455"/>
            <a:ext cx="3549699" cy="2562238"/>
          </a:xfrm>
          <a:custGeom>
            <a:avLst/>
            <a:gdLst/>
            <a:ahLst/>
            <a:cxnLst/>
            <a:rect l="l" t="t" r="r" b="b"/>
            <a:pathLst>
              <a:path w="3549699" h="2562238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65218" y="3200400"/>
            <a:ext cx="8695587" cy="403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-334072" y="-1475968"/>
            <a:ext cx="3808435" cy="4114800"/>
          </a:xfrm>
          <a:custGeom>
            <a:avLst/>
            <a:gdLst/>
            <a:ahLst/>
            <a:cxnLst/>
            <a:rect l="l" t="t" r="r" b="b"/>
            <a:pathLst>
              <a:path w="3808435" h="4114800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62311" y="8487580"/>
            <a:ext cx="4196989" cy="770720"/>
          </a:xfrm>
          <a:custGeom>
            <a:avLst/>
            <a:gdLst/>
            <a:ahLst/>
            <a:cxnLst/>
            <a:rect l="l" t="t" r="r" b="b"/>
            <a:pathLst>
              <a:path w="4196989" h="770720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18246">
            <a:off x="3423654" y="3579497"/>
            <a:ext cx="4333509" cy="3128006"/>
          </a:xfrm>
          <a:custGeom>
            <a:avLst/>
            <a:gdLst/>
            <a:ahLst/>
            <a:cxnLst/>
            <a:rect l="l" t="t" r="r" b="b"/>
            <a:pathLst>
              <a:path w="4333509" h="3128006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228</Words>
  <Application>Microsoft Office PowerPoint</Application>
  <PresentationFormat>Custom</PresentationFormat>
  <Paragraphs>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Nunito</vt:lpstr>
      <vt:lpstr>Calibri</vt:lpstr>
      <vt:lpstr>Aptos</vt:lpstr>
      <vt:lpstr>AC Diary Girl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eiphyu moe</cp:lastModifiedBy>
  <cp:revision>12</cp:revision>
  <dcterms:created xsi:type="dcterms:W3CDTF">2006-08-16T00:00:00Z</dcterms:created>
  <dcterms:modified xsi:type="dcterms:W3CDTF">2026-05-20T17:45:21Z</dcterms:modified>
  <dc:identifier>DAHKOHJE3dg</dc:identifier>
</cp:coreProperties>
</file>